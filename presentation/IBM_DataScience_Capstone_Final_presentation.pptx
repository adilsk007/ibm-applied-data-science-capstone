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0015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6492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</a:rPr>
              <a:t>Winning Space Race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</a:rPr>
              <a:t>with Data Science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85800" y="2148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BBD7FF"/>
                </a:solidFill>
              </a:rPr>
              <a:t>Predicting Falcon 9 first-stage landing success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2743200"/>
            <a:ext cx="4023360" cy="0"/>
          </a:xfrm>
          <a:prstGeom prst="line">
            <a:avLst/>
          </a:prstGeom>
          <a:noFill/>
          <a:ln w="38100">
            <a:solidFill>
              <a:srgbClr val="56C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3246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6CCF2"/>
                </a:solidFill>
              </a:rPr>
              <a:t>$62M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3611880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C84"/>
                </a:solidFill>
              </a:rPr>
              <a:t>advertised SpaceX Falcon 9 launch cost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71800" y="3246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994A"/>
                </a:solidFill>
              </a:rPr>
              <a:t>$165M+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971800" y="3611880"/>
            <a:ext cx="2103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C84"/>
                </a:solidFill>
              </a:rPr>
              <a:t>typical cost of other providers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AE60"/>
                </a:solidFill>
              </a:rPr>
              <a:t>90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394960" y="3611880"/>
            <a:ext cx="1920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C84"/>
                </a:solidFill>
              </a:rPr>
              <a:t>Falcon 9 launch records used in modeling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52578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BFF"/>
                </a:solidFill>
              </a:rPr>
              <a:t>Muhammad Adil Salam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DEBFF"/>
                </a:solidFill>
              </a:rPr>
              <a:t>IBM Applied Data Science Capstone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DEBFF"/>
                </a:solidFill>
              </a:rPr>
              <a:t>Final Presentation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57150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8FB8FF"/>
                </a:solidFill>
              </a:rPr>
              <a:t>GitHub repository: https://github.com/adilsk007/IBM-Applied-Data-Science-Capstone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89520" y="640080"/>
            <a:ext cx="3749040" cy="3749040"/>
          </a:xfrm>
          <a:prstGeom prst="arc">
            <a:avLst/>
          </a:prstGeom>
          <a:noFill/>
          <a:ln w="25400">
            <a:solidFill>
              <a:srgbClr val="1D5BB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01000" y="1051560"/>
            <a:ext cx="2880360" cy="2880360"/>
          </a:xfrm>
          <a:prstGeom prst="arc">
            <a:avLst/>
          </a:prstGeom>
          <a:noFill/>
          <a:ln w="25400">
            <a:solidFill>
              <a:srgbClr val="56CCF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235440" y="2240280"/>
            <a:ext cx="146304" cy="146304"/>
          </a:xfrm>
          <a:prstGeom prst="ellipse">
            <a:avLst/>
          </a:prstGeom>
          <a:solidFill>
            <a:srgbClr val="56CCF2"/>
          </a:solidFill>
          <a:ln w="12700">
            <a:solidFill>
              <a:srgbClr val="56C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653796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69A"/>
                </a:solidFill>
              </a:rPr>
              <a:t>IBM Applied Data Science Capstone | SpaceX Falcon 9 Landing Prediction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C84"/>
                </a:solidFill>
              </a:rPr>
              <a:t>How the project moves from raw launch data to a landing-success prediction model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8E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80ED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399032"/>
            <a:ext cx="85953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problem and analytical objective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1305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80ED"/>
                </a:solidFill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112264"/>
            <a:ext cx="85953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collection, wrangling and feature engineering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84378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80ED"/>
                </a:solidFill>
              </a:rPr>
              <a:t>03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825496"/>
            <a:ext cx="85953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with visualization and SQL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355701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80ED"/>
                </a:solidFill>
              </a:rPr>
              <a:t>04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3538728"/>
            <a:ext cx="85953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analytics with Folium and Plotly Dash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42702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80ED"/>
                </a:solidFill>
              </a:rPr>
              <a:t>05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4251960"/>
            <a:ext cx="85953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modeling and model comparison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" y="49834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80ED"/>
                </a:solidFill>
              </a:rPr>
              <a:t>06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4965192"/>
            <a:ext cx="85953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conclusions and GitHub deliverables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" y="653796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69A"/>
                </a:solidFill>
              </a:rPr>
              <a:t>IBM Applied Data Science Capstone | SpaceX Falcon 9 Landing Prediction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C84"/>
                </a:solidFill>
              </a:rPr>
              <a:t>The capstone uses an end-to-end data science workflow to estimate booster recovery success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8E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649224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600" b="1" dirty="0">
                <a:solidFill>
                  <a:srgbClr val="172B4D"/>
                </a:solidFill>
              </a:rPr>
              <a:t>Objective:</a:t>
            </a:r>
            <a:r>
              <a:rPr lang="en-US" sz="1600" dirty="0">
                <a:solidFill>
                  <a:srgbClr val="172B4D"/>
                </a:solidFill>
              </a:rPr>
              <a:t> Predict whether the Falcon 9 first stage will land successfully after launch.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rgbClr val="172B4D"/>
                </a:solidFill>
              </a:rPr>
              <a:t>Business value:</a:t>
            </a:r>
            <a:r>
              <a:rPr lang="en-US" sz="1600" dirty="0">
                <a:solidFill>
                  <a:srgbClr val="172B4D"/>
                </a:solidFill>
              </a:rPr>
              <a:t> Successful booster recovery drives the cost advantage of reusable launch vehicles.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rgbClr val="172B4D"/>
                </a:solidFill>
              </a:rPr>
              <a:t>Workflow:</a:t>
            </a:r>
            <a:r>
              <a:rPr lang="en-US" sz="1600" dirty="0">
                <a:solidFill>
                  <a:srgbClr val="172B4D"/>
                </a:solidFill>
              </a:rPr>
              <a:t> API data collection, web scraping, cleaning, SQL/visual EDA, Folium maps, Dash dashboard and machine learning.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rgbClr val="172B4D"/>
                </a:solidFill>
              </a:rPr>
              <a:t>Key dashboard insight:</a:t>
            </a:r>
            <a:r>
              <a:rPr lang="en-US" sz="1600" dirty="0">
                <a:solidFill>
                  <a:srgbClr val="172B4D"/>
                </a:solidFill>
              </a:rPr>
              <a:t> KSC LC-39A has both the largest number of successful launches and the highest success rate in the dashboard dataset.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rgbClr val="172B4D"/>
                </a:solidFill>
              </a:rPr>
              <a:t>Model result:</a:t>
            </a:r>
            <a:r>
              <a:rPr lang="en-US" sz="1600" dirty="0">
                <a:solidFill>
                  <a:srgbClr val="172B4D"/>
                </a:solidFill>
              </a:rPr>
              <a:t> all four classifiers tied at 83.3% test accuracy; Decision Tree achieved the highest cross-validation score.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2668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AE60"/>
                </a:solidFill>
              </a:rPr>
              <a:t>KSC LC-39A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26680" y="1783080"/>
            <a:ext cx="29260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C84"/>
                </a:solidFill>
              </a:rPr>
              <a:t>largest successful launches and highest rate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26680" y="2468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80ED"/>
                </a:solidFill>
              </a:rPr>
              <a:t>B5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26680" y="2834640"/>
            <a:ext cx="29260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C84"/>
                </a:solidFill>
              </a:rPr>
              <a:t>booster category with highest dashboard success rate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2668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994A"/>
                </a:solidFill>
              </a:rPr>
              <a:t>3-4k kg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726680" y="3886200"/>
            <a:ext cx="29260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C84"/>
                </a:solidFill>
              </a:rPr>
              <a:t>payload range with strongest success rate signal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653796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69A"/>
                </a:solidFill>
              </a:rPr>
              <a:t>IBM Applied Data Science Capstone | SpaceX Falcon 9 Landing Prediction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C84"/>
                </a:solidFill>
              </a:rPr>
              <a:t>A competitor needs a data-driven way to estimate launch outcome and cost competitiveness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8E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1828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48006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SpaceY wants to compete with SpaceX. Since SpaceX can reuse first-stage boosters, predicting landing success helps estimate launch cost and bidding competitiveness.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22860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Analytical question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521208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launch features such as payload mass, orbit, launch site, booster version and launch history predict whether the Falcon 9 first stage lands successfully?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20840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6C84"/>
                </a:solidFill>
              </a:rPr>
              <a:t>Target variable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20840" y="1874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AE60"/>
                </a:solidFill>
              </a:rPr>
              <a:t>Class = 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720840" y="2331720"/>
            <a:ext cx="21945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Successful landing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20840" y="2971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B5757"/>
                </a:solidFill>
              </a:rPr>
              <a:t>Class = 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720840" y="3429000"/>
            <a:ext cx="24688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Unsuccessful landing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23544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6CCF2"/>
                </a:solidFill>
              </a:rPr>
              <a:t>Reusable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235440" y="2560320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C84"/>
                </a:solidFill>
              </a:rPr>
              <a:t>first stage recovery changes launch economics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653796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69A"/>
                </a:solidFill>
              </a:rPr>
              <a:t>IBM Applied Data Science Capstone | SpaceX Falcon 9 Landing Prediction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Science 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C84"/>
                </a:solidFill>
              </a:rPr>
              <a:t>Each lab contributes one required part of the final capstone presentation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8E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508760"/>
            <a:ext cx="411480" cy="411480"/>
          </a:xfrm>
          <a:prstGeom prst="rect">
            <a:avLst/>
          </a:prstGeom>
          <a:solidFill>
            <a:srgbClr val="2F80ED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collection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12648" y="2468880"/>
            <a:ext cx="20574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SpaceX API + Wikipedia scraping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1719072"/>
            <a:ext cx="685800" cy="0"/>
          </a:xfrm>
          <a:prstGeom prst="line">
            <a:avLst/>
          </a:prstGeom>
          <a:noFill/>
          <a:ln w="12700">
            <a:solidFill>
              <a:srgbClr val="D8E1E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53512" y="1508760"/>
            <a:ext cx="411480" cy="411480"/>
          </a:xfrm>
          <a:prstGeom prst="rect">
            <a:avLst/>
          </a:prstGeom>
          <a:solidFill>
            <a:srgbClr val="2F80ED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53512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wrangling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880360" y="2468880"/>
            <a:ext cx="20574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labels and create Class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53712" y="1719072"/>
            <a:ext cx="685800" cy="0"/>
          </a:xfrm>
          <a:prstGeom prst="line">
            <a:avLst/>
          </a:prstGeom>
          <a:noFill/>
          <a:ln w="12700">
            <a:solidFill>
              <a:srgbClr val="D8E1E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21224" y="1508760"/>
            <a:ext cx="411480" cy="411480"/>
          </a:xfrm>
          <a:prstGeom prst="rect">
            <a:avLst/>
          </a:prstGeom>
          <a:solidFill>
            <a:srgbClr val="2F80ED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21224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148072" y="2468880"/>
            <a:ext cx="20574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trends and SQL queries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21424" y="1719072"/>
            <a:ext cx="685800" cy="0"/>
          </a:xfrm>
          <a:prstGeom prst="line">
            <a:avLst/>
          </a:prstGeom>
          <a:noFill/>
          <a:ln w="12700">
            <a:solidFill>
              <a:srgbClr val="D8E1E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88936" y="1508760"/>
            <a:ext cx="411480" cy="411480"/>
          </a:xfrm>
          <a:prstGeom prst="rect">
            <a:avLst/>
          </a:prstGeom>
          <a:solidFill>
            <a:srgbClr val="2F80ED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84364" y="2055258"/>
            <a:ext cx="1920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analytics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15784" y="2468880"/>
            <a:ext cx="20574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Folium map + Plotly Dash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89136" y="1719072"/>
            <a:ext cx="685800" cy="0"/>
          </a:xfrm>
          <a:prstGeom prst="line">
            <a:avLst/>
          </a:prstGeom>
          <a:noFill/>
          <a:ln w="12700">
            <a:solidFill>
              <a:srgbClr val="D8E1E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756648" y="1508760"/>
            <a:ext cx="411480" cy="411480"/>
          </a:xfrm>
          <a:prstGeom prst="rect">
            <a:avLst/>
          </a:prstGeom>
          <a:solidFill>
            <a:srgbClr val="2F80ED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756648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683496" y="2468880"/>
            <a:ext cx="20574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 models and comparison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977640"/>
            <a:ext cx="987552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72B4D"/>
                </a:solidFill>
              </a:rPr>
              <a:t>Each notebook was completed and saved as a solved version.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72B4D"/>
                </a:solidFill>
              </a:rPr>
              <a:t>Dashboard screenshots were captured for use in the final stakeholder presentation.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72B4D"/>
                </a:solidFill>
              </a:rPr>
              <a:t>Final deliverables: GitHub repository URL and PDF/PPT presentation.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02920" y="653796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69A"/>
                </a:solidFill>
              </a:rPr>
              <a:t>IBM Applied Data Science Capstone | SpaceX Falcon 9 Landing Prediction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Collection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C84"/>
                </a:solidFill>
              </a:rPr>
              <a:t>Launch records were collected from two complementary sources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8E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539496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10000"/>
          </a:bodyPr>
          <a:lstStyle/>
          <a:p>
            <a:r>
              <a:rPr lang="en-US" sz="1700" b="1" dirty="0">
                <a:solidFill>
                  <a:srgbClr val="172B4D"/>
                </a:solidFill>
              </a:rPr>
              <a:t>SpaceX REST API:</a:t>
            </a:r>
            <a:r>
              <a:rPr lang="en-US" sz="1700" dirty="0">
                <a:solidFill>
                  <a:srgbClr val="172B4D"/>
                </a:solidFill>
              </a:rPr>
              <a:t> launch, rocket, payload, launchpad and landing metadata.</a:t>
            </a:r>
          </a:p>
          <a:p>
            <a:endParaRPr lang="en-US" sz="1700" dirty="0"/>
          </a:p>
          <a:p>
            <a:r>
              <a:rPr lang="en-US" sz="1700" b="1" dirty="0">
                <a:solidFill>
                  <a:srgbClr val="172B4D"/>
                </a:solidFill>
              </a:rPr>
              <a:t>Wikipedia web scraping:</a:t>
            </a:r>
            <a:r>
              <a:rPr lang="en-US" sz="1700" dirty="0">
                <a:solidFill>
                  <a:srgbClr val="172B4D"/>
                </a:solidFill>
              </a:rPr>
              <a:t> Falcon 9 / Falcon Heavy historical launch table.</a:t>
            </a:r>
          </a:p>
          <a:p>
            <a:endParaRPr lang="en-US" sz="1700" dirty="0"/>
          </a:p>
          <a:p>
            <a:r>
              <a:rPr lang="en-US" sz="1700" dirty="0">
                <a:solidFill>
                  <a:srgbClr val="172B4D"/>
                </a:solidFill>
              </a:rPr>
              <a:t>Data was converted into Pandas DataFrames and exported for later labs.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1645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B4D"/>
                </a:solidFill>
              </a:rPr>
              <a:t>API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096512"/>
            <a:ext cx="1645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metadata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97480" y="3931920"/>
            <a:ext cx="594360" cy="0"/>
          </a:xfrm>
          <a:prstGeom prst="line">
            <a:avLst/>
          </a:prstGeom>
          <a:noFill/>
          <a:ln w="16510">
            <a:solidFill>
              <a:srgbClr val="2F80E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66160" y="3703320"/>
            <a:ext cx="1645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B4D"/>
                </a:solidFill>
              </a:rPr>
              <a:t>BeautifulSoup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66160" y="4096512"/>
            <a:ext cx="1645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tables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40680" y="3931920"/>
            <a:ext cx="594360" cy="0"/>
          </a:xfrm>
          <a:prstGeom prst="line">
            <a:avLst/>
          </a:prstGeom>
          <a:noFill/>
          <a:ln w="16510">
            <a:solidFill>
              <a:srgbClr val="2F80E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3703320"/>
            <a:ext cx="1645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B4D"/>
                </a:solidFill>
              </a:rPr>
              <a:t>Pandas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09360" y="4096512"/>
            <a:ext cx="1645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dataframe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3880" y="3931920"/>
            <a:ext cx="594360" cy="0"/>
          </a:xfrm>
          <a:prstGeom prst="line">
            <a:avLst/>
          </a:prstGeom>
          <a:noFill/>
          <a:ln w="16510">
            <a:solidFill>
              <a:srgbClr val="2F80E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052560" y="3703320"/>
            <a:ext cx="1645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B4D"/>
                </a:solidFill>
              </a:rPr>
              <a:t>CSV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052560" y="4096512"/>
            <a:ext cx="1645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datasets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8660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80ED"/>
                </a:solidFill>
              </a:rPr>
              <a:t>dataset_part_1.csv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086600" y="1645920"/>
            <a:ext cx="3200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C84"/>
                </a:solidFill>
              </a:rPr>
              <a:t>cleaned API-derived launch dataset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8660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B51E0"/>
                </a:solidFill>
              </a:rPr>
              <a:t>spacex_web_scraped.csv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086600" y="2697480"/>
            <a:ext cx="3200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C84"/>
                </a:solidFill>
              </a:rPr>
              <a:t>Wikipedia launch data export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53796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69A"/>
                </a:solidFill>
              </a:rPr>
              <a:t>IBM Applied Data Science Capstone | SpaceX Falcon 9 Landing Prediction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Wrangling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C84"/>
                </a:solidFill>
              </a:rPr>
              <a:t>Landing outcomes were converted into a machine-learning target label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8E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603504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Filtered the launch data to Falcon 9 records only.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Replaced missing PayloadMass values with the mean payload mass.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Converted categorical landing outcomes into binary labels: 1 for successful landing and 0 for unsuccessful landing.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Created dataset_part_2.csv for supervised learning and downstream analysis.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6C84"/>
                </a:solidFill>
              </a:rPr>
              <a:t>Outcome mapping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0" y="1874520"/>
            <a:ext cx="3474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</a:rPr>
              <a:t>True ASDS / True RTLS / True Ocean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0" y="22677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7AE60"/>
                </a:solidFill>
              </a:rPr>
              <a:t>Class = 1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31520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5757"/>
                </a:solidFill>
              </a:rPr>
              <a:t>False ASDS / False RTLS / None / Ocean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0" y="36393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B5757"/>
                </a:solidFill>
              </a:rPr>
              <a:t>Class = 0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02920" y="653796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69A"/>
                </a:solidFill>
              </a:rPr>
              <a:t>IBM Applied Data Science Capstone | SpaceX Falcon 9 Landing Prediction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with Visualization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C84"/>
                </a:solidFill>
              </a:rPr>
              <a:t>Launch success varies by site, payload range and booster category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8E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slide_assets/success_by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93757"/>
            <a:ext cx="5257800" cy="2967567"/>
          </a:xfrm>
          <a:prstGeom prst="rect">
            <a:avLst/>
          </a:prstGeom>
        </p:spPr>
      </p:pic>
      <p:pic>
        <p:nvPicPr>
          <p:cNvPr id="6" name="Image 1" descr="/mnt/data/slide_assets/payload_success_ra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91640"/>
            <a:ext cx="5257800" cy="2971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5532120"/>
            <a:ext cx="10241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Insight: KSC LC-39A leads in successful launches, while payloads around 3,000-4,000 kg show the strongest success-rate signal in the dashboard data.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02920" y="653796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69A"/>
                </a:solidFill>
              </a:rPr>
              <a:t>IBM Applied Data Science Capstone | SpaceX Falcon 9 Landing Prediction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with SQL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C84"/>
                </a:solidFill>
              </a:rPr>
              <a:t>SQL queries were used to validate launch-site, payload and outcome patterns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8E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80ED"/>
                </a:solidFill>
              </a:rPr>
              <a:t>SQL question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1772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80ED"/>
                </a:solidFill>
              </a:rPr>
              <a:t>Result used in final analysis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34747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launch sites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17720" y="1874520"/>
            <a:ext cx="56692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launch sites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441448"/>
            <a:ext cx="34747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NASA (CRS) payload mass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17720" y="2441448"/>
            <a:ext cx="56692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45,596 kg total payload mass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008376"/>
            <a:ext cx="34747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payload for F9 v1.1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3008376"/>
            <a:ext cx="56692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2,928.4 kg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3575304"/>
            <a:ext cx="34747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successful ground-pad landing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3575304"/>
            <a:ext cx="56692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2015-12-22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142232"/>
            <a:ext cx="34747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outcome counts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17720" y="4142232"/>
            <a:ext cx="56692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Mostly successful missions in the SQL dataset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5349240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matters:</a:t>
            </a:r>
            <a:r>
              <a:rPr lang="en-US" sz="17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SQL gives auditable, reproducible answers for the presentation and supports the visual analysis results.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02920" y="653796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69A"/>
                </a:solidFill>
              </a:rPr>
              <a:t>IBM Applied Data Science Capstone | SpaceX Falcon 9 Landing Prediction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Interactive Map with Folium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C84"/>
                </a:solidFill>
              </a:rPr>
              <a:t>Launch locations and nearby infrastructure were explored geographically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8E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576072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All launch sites were plotted using latitude and longitude coordinates.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Markers were colored by landing outcome: successful versus unsuccessful.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Distance calculations were added from a launch site to the coastline and nearby infrastructure.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The exported HTML map should be uploaded to GitHub with the notebooks.</a:t>
            </a:r>
            <a:endParaRPr lang="en-US" sz="1600" dirty="0"/>
          </a:p>
        </p:txBody>
      </p:sp>
      <p:pic>
        <p:nvPicPr>
          <p:cNvPr id="6" name="Image 0" descr="/mnt/data/slide_assets/launch_site_lo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17122"/>
            <a:ext cx="4754880" cy="27093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12280" y="4892040"/>
            <a:ext cx="40233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Folium notebook also exports an interactive HTML map with markers, marker clusters and distance annotations.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02920" y="653796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69A"/>
                </a:solidFill>
              </a:rPr>
              <a:t>IBM Applied Data Science Capstone | SpaceX Falcon 9 Landing Prediction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Plotly Dash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C84"/>
                </a:solidFill>
              </a:rPr>
              <a:t>The dashboard enables interactive visual analytics in real time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8E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converted_dash_pngs/01_all_sites_full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274" y="1234440"/>
            <a:ext cx="3780213" cy="4892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06440" y="1508760"/>
            <a:ext cx="534924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Dropdown lets the user select All Sites or an individual launch site.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Pie chart updates to show total successful launches by site or success/failure split for one site.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Payload slider filters the scatter plot by payload mass range.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Scatter plot shows payload mass versus landing outcome, colored by booster version.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653796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69A"/>
                </a:solidFill>
              </a:rPr>
              <a:t>IBM Applied Data Science Capstone | SpaceX Falcon 9 Landing Prediction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Interaction: Launch Site Dropdown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C84"/>
                </a:solidFill>
              </a:rPr>
              <a:t>The launch-site selector changes both the pie chart and scatter plot context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8E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converted_dash_pngs/02_dropdown_launch_site_op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083" y="1234440"/>
            <a:ext cx="3709555" cy="480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0" y="1645920"/>
            <a:ext cx="448056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72B4D"/>
                </a:solidFill>
              </a:rPr>
              <a:t>All Sites option shows the aggregate view across the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72B4D"/>
                </a:solidFill>
              </a:rPr>
              <a:t>Specific launch-site selection supports a detailed success-rate comparison.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72B4D"/>
                </a:solidFill>
              </a:rPr>
              <a:t>This screenshot proves Task 1 and Task 2 dashboard requirements are implemented.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949440" y="4343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80ED"/>
                </a:solidFill>
              </a:rPr>
              <a:t>4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949440" y="4709160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C84"/>
                </a:solidFill>
              </a:rPr>
              <a:t>available launch-site filters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235440" y="4343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B51E0"/>
                </a:solidFill>
              </a:rPr>
              <a:t>ALL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235440" y="4709160"/>
            <a:ext cx="1828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C84"/>
                </a:solidFill>
              </a:rPr>
              <a:t>default dashboard selection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653796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69A"/>
                </a:solidFill>
              </a:rPr>
              <a:t>IBM Applied Data Science Capstone | SpaceX Falcon 9 Landing Prediction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Payload Scatter Plot: All Sites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C84"/>
                </a:solidFill>
              </a:rPr>
              <a:t>Each point represents one launch; class 1 means successful landing and class 0 means unsuccessful landing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8E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05_all_sites_payload_scatter_full_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99" y="1234440"/>
            <a:ext cx="10543642" cy="3154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4754880"/>
            <a:ext cx="104241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Interpretation: because the target is binary, points naturally form two horizontal bands. The color label shows booster version category.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653796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69A"/>
                </a:solidFill>
              </a:rPr>
              <a:t>IBM Applied Data Science Capstone | SpaceX Falcon 9 Landing Prediction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Payload Slider Filter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C84"/>
                </a:solidFill>
              </a:rPr>
              <a:t>Changing the payload range filters the scatter plot without changing the app code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8E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06_payload_slider_filtered_2000_6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606" y="1234440"/>
            <a:ext cx="10238029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4663440"/>
            <a:ext cx="102412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600" dirty="0">
                <a:solidFill>
                  <a:srgbClr val="172B4D"/>
                </a:solidFill>
              </a:rPr>
              <a:t>Filtered view focuses on payloads in the mid-range band, approximately 2,000-6,000 kg.</a:t>
            </a:r>
            <a:endParaRPr lang="en-US" sz="1600" dirty="0"/>
          </a:p>
          <a:p>
            <a:r>
              <a:rPr lang="en-US" sz="1600" dirty="0">
                <a:solidFill>
                  <a:srgbClr val="172B4D"/>
                </a:solidFill>
              </a:rPr>
              <a:t>The dashboard can be used to visually compare high-success and low-success payload ranges.</a:t>
            </a:r>
            <a:endParaRPr lang="en-US" sz="1600" dirty="0"/>
          </a:p>
          <a:p>
            <a:r>
              <a:rPr lang="en-US" sz="1600" dirty="0">
                <a:solidFill>
                  <a:srgbClr val="172B4D"/>
                </a:solidFill>
              </a:rPr>
              <a:t>This screenshot demonstrates the payload slider and scatter callback working together.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653796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69A"/>
                </a:solidFill>
              </a:rPr>
              <a:t>IBM Applied Data Science Capstone | SpaceX Falcon 9 Landing Prediction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Selected Site View: CCAFS LC-40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C84"/>
                </a:solidFill>
              </a:rPr>
              <a:t>Filtering by site provides a site-specific payload-to-outcome view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8E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07_selected_site_payload_scatter_CCAFS_LC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606" y="1234440"/>
            <a:ext cx="10238029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4709160"/>
            <a:ext cx="102412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600" dirty="0">
                <a:solidFill>
                  <a:srgbClr val="172B4D"/>
                </a:solidFill>
              </a:rPr>
              <a:t>CCAFS LC-40 view shows fewer points than the all-sites view because the data is filtered to one launch site.</a:t>
            </a:r>
            <a:endParaRPr lang="en-US" sz="1600" dirty="0"/>
          </a:p>
          <a:p>
            <a:r>
              <a:rPr lang="en-US" sz="1600" dirty="0">
                <a:solidFill>
                  <a:srgbClr val="172B4D"/>
                </a:solidFill>
              </a:rPr>
              <a:t>The same binary class interpretation applies: 1 = landed successfully, 0 = did not land successfully.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653796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69A"/>
                </a:solidFill>
              </a:rPr>
              <a:t>IBM Applied Data Science Capstone | SpaceX Falcon 9 Landing Prediction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Insights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C84"/>
                </a:solidFill>
              </a:rPr>
              <a:t>Final visual answers extracted from the interactive dashboard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8E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slide_assets/booster_success_r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2046"/>
            <a:ext cx="4937760" cy="27909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325880"/>
            <a:ext cx="2743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successful launches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11880" y="1325880"/>
            <a:ext cx="24688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7A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KSC LC-39A - 10 successful launches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057400"/>
            <a:ext cx="2743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launch success rate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11880" y="2057400"/>
            <a:ext cx="24688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7A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KSC LC-39A - 76.9%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788920"/>
            <a:ext cx="2743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payload success range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11880" y="2788920"/>
            <a:ext cx="24688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3,000-4,000 kg - 72.7%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3520440"/>
            <a:ext cx="2743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payload success range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611880" y="3520440"/>
            <a:ext cx="24688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6,000-7,000 kg - 0%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31520" y="4251960"/>
            <a:ext cx="2743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booster success rate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611880" y="4251960"/>
            <a:ext cx="24688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B5 - 100%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629400" y="4846320"/>
            <a:ext cx="4389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percentages are based on the dashboard dataset used in the Dash lab.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" y="653796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69A"/>
                </a:solidFill>
              </a:rPr>
              <a:t>IBM Applied Data Science Capstone | SpaceX Falcon 9 Landing Prediction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Predictive Analysis: Feature Preparation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C84"/>
                </a:solidFill>
              </a:rPr>
              <a:t>Categorical and numerical launch features were prepared for supervised learning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8E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548640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Target label Y was created from the Class column.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Feature matrix X was loaded from dataset_part_3.csv after one-hot encoding.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Features were standardized using </a:t>
            </a:r>
            <a:r>
              <a:rPr lang="en-US" sz="1600" dirty="0" err="1">
                <a:solidFill>
                  <a:srgbClr val="172B4D"/>
                </a:solidFill>
              </a:rPr>
              <a:t>StandardScaler</a:t>
            </a:r>
            <a:r>
              <a:rPr lang="en-US" sz="1600" dirty="0">
                <a:solidFill>
                  <a:srgbClr val="172B4D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Data was split into training and testing sets with test_size = 0.2 and random_state = 2.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99516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6C84"/>
                </a:solidFill>
              </a:rPr>
              <a:t>Feature examples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40880" y="1783080"/>
            <a:ext cx="374904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172B4D"/>
                </a:solidFill>
              </a:rPr>
              <a:t>PayloadMass</a:t>
            </a:r>
            <a:endParaRPr lang="en-US" sz="1400" dirty="0"/>
          </a:p>
          <a:p>
            <a:r>
              <a:rPr lang="en-US" sz="1400" dirty="0">
                <a:solidFill>
                  <a:srgbClr val="172B4D"/>
                </a:solidFill>
              </a:rPr>
              <a:t>Flights</a:t>
            </a:r>
            <a:endParaRPr lang="en-US" sz="1400" dirty="0"/>
          </a:p>
          <a:p>
            <a:r>
              <a:rPr lang="en-US" sz="1400" dirty="0">
                <a:solidFill>
                  <a:srgbClr val="172B4D"/>
                </a:solidFill>
              </a:rPr>
              <a:t>Block</a:t>
            </a:r>
            <a:endParaRPr lang="en-US" sz="1400" dirty="0"/>
          </a:p>
          <a:p>
            <a:r>
              <a:rPr lang="en-US" sz="1400" dirty="0">
                <a:solidFill>
                  <a:srgbClr val="172B4D"/>
                </a:solidFill>
              </a:rPr>
              <a:t>ReusedCount</a:t>
            </a:r>
            <a:endParaRPr lang="en-US" sz="1400" dirty="0"/>
          </a:p>
          <a:p>
            <a:r>
              <a:rPr lang="en-US" sz="1400" dirty="0">
                <a:solidFill>
                  <a:srgbClr val="172B4D"/>
                </a:solidFill>
              </a:rPr>
              <a:t>Orbit_*</a:t>
            </a:r>
            <a:endParaRPr lang="en-US" sz="1400" dirty="0"/>
          </a:p>
          <a:p>
            <a:r>
              <a:rPr lang="en-US" sz="1400" dirty="0">
                <a:solidFill>
                  <a:srgbClr val="172B4D"/>
                </a:solidFill>
              </a:rPr>
              <a:t>LaunchSite_*</a:t>
            </a:r>
            <a:endParaRPr lang="en-US" sz="1400" dirty="0"/>
          </a:p>
          <a:p>
            <a:r>
              <a:rPr lang="en-US" sz="1400" dirty="0">
                <a:solidFill>
                  <a:srgbClr val="172B4D"/>
                </a:solidFill>
              </a:rPr>
              <a:t>Serial_*</a:t>
            </a:r>
            <a:endParaRPr lang="en-US" sz="1400" dirty="0"/>
          </a:p>
          <a:p>
            <a:r>
              <a:rPr lang="en-US" sz="1400" dirty="0">
                <a:solidFill>
                  <a:srgbClr val="172B4D"/>
                </a:solidFill>
              </a:rPr>
              <a:t>GridFins / Reused / Legs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0" y="4343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80ED"/>
                </a:solidFill>
              </a:rPr>
              <a:t>80/20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0" y="4709160"/>
            <a:ext cx="1645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C84"/>
                </a:solidFill>
              </a:rPr>
              <a:t>train-test split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0" y="4343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AE60"/>
                </a:solidFill>
              </a:rPr>
              <a:t>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326880" y="4709160"/>
            <a:ext cx="1645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C84"/>
                </a:solidFill>
              </a:rPr>
              <a:t>classification algorithms compared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653796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69A"/>
                </a:solidFill>
              </a:rPr>
              <a:t>IBM Applied Data Science Capstone | SpaceX Falcon 9 Landing Prediction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Models and Hyperparameter Tuning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C84"/>
                </a:solidFill>
              </a:rPr>
              <a:t>GridSearchCV was used to select strong model configurations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8E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80ED"/>
                </a:solidFill>
              </a:rPr>
              <a:t>Model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7180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80ED"/>
                </a:solidFill>
              </a:rPr>
              <a:t>Tuned parameters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7512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80ED"/>
                </a:solidFill>
              </a:rPr>
              <a:t>Purpose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2148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971800" y="1783080"/>
            <a:ext cx="32461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C, penalty, solver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75120" y="1783080"/>
            <a:ext cx="4160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baseline classifier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2295144"/>
            <a:ext cx="2148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Vector Machine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971800" y="2295144"/>
            <a:ext cx="32461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kernel, C, gamma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75120" y="2295144"/>
            <a:ext cx="4160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nonlinear separation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2807208"/>
            <a:ext cx="2148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971800" y="2807208"/>
            <a:ext cx="32461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criterion, depth, split rules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75120" y="2807208"/>
            <a:ext cx="4160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interpretable rules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3319272"/>
            <a:ext cx="2148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K-Nearest Neighbors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971800" y="3319272"/>
            <a:ext cx="32461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neighbors, distance metric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75120" y="3319272"/>
            <a:ext cx="4160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similarity-based classifier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68680" y="4128516"/>
            <a:ext cx="99669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All models were evaluated on the same held-out test 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Models tied on test accuracy, so cross-validation score was also used to interpret model strength.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All models were evaluated after hyperparameter tuning.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53796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69A"/>
                </a:solidFill>
              </a:rPr>
              <a:t>IBM Applied Data Science Capstone | SpaceX Falcon 9 Landing Prediction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Predictive Analysis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C84"/>
                </a:solidFill>
              </a:rPr>
              <a:t>All models tied on test accuracy; Decision Tree achieved the highest cross-validation score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8E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903720" y="1417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0ED"/>
                </a:solidFill>
              </a:rPr>
              <a:t>Model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732520" y="14173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0ED"/>
                </a:solidFill>
              </a:rPr>
              <a:t>Best CV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66960" y="1417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0ED"/>
                </a:solidFill>
              </a:rPr>
              <a:t>Test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903720" y="1874520"/>
            <a:ext cx="17373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1280" dirty="0"/>
          </a:p>
        </p:txBody>
      </p:sp>
      <p:sp>
        <p:nvSpPr>
          <p:cNvPr id="10" name="Text 7"/>
          <p:cNvSpPr/>
          <p:nvPr/>
        </p:nvSpPr>
        <p:spPr>
          <a:xfrm>
            <a:off x="8732520" y="1874520"/>
            <a:ext cx="960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84.6%</a:t>
            </a:r>
            <a:endParaRPr lang="en-US" sz="1280" dirty="0"/>
          </a:p>
        </p:txBody>
      </p:sp>
      <p:sp>
        <p:nvSpPr>
          <p:cNvPr id="11" name="Text 8"/>
          <p:cNvSpPr/>
          <p:nvPr/>
        </p:nvSpPr>
        <p:spPr>
          <a:xfrm>
            <a:off x="9966960" y="1874520"/>
            <a:ext cx="914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83.3%</a:t>
            </a:r>
            <a:endParaRPr lang="en-US" sz="1280" dirty="0"/>
          </a:p>
        </p:txBody>
      </p:sp>
      <p:sp>
        <p:nvSpPr>
          <p:cNvPr id="12" name="Text 9"/>
          <p:cNvSpPr/>
          <p:nvPr/>
        </p:nvSpPr>
        <p:spPr>
          <a:xfrm>
            <a:off x="6903720" y="2313432"/>
            <a:ext cx="17373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SVM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8732520" y="2313432"/>
            <a:ext cx="960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84.8%</a:t>
            </a:r>
            <a:endParaRPr lang="en-US" sz="1280" dirty="0"/>
          </a:p>
        </p:txBody>
      </p:sp>
      <p:sp>
        <p:nvSpPr>
          <p:cNvPr id="14" name="Text 11"/>
          <p:cNvSpPr/>
          <p:nvPr/>
        </p:nvSpPr>
        <p:spPr>
          <a:xfrm>
            <a:off x="9966960" y="2313432"/>
            <a:ext cx="914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83.3%</a:t>
            </a:r>
            <a:endParaRPr lang="en-US" sz="1280" dirty="0"/>
          </a:p>
        </p:txBody>
      </p:sp>
      <p:sp>
        <p:nvSpPr>
          <p:cNvPr id="15" name="Text 12"/>
          <p:cNvSpPr/>
          <p:nvPr/>
        </p:nvSpPr>
        <p:spPr>
          <a:xfrm>
            <a:off x="6903720" y="2752344"/>
            <a:ext cx="17373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</a:t>
            </a:r>
            <a:endParaRPr lang="en-US" sz="1280" dirty="0"/>
          </a:p>
        </p:txBody>
      </p:sp>
      <p:sp>
        <p:nvSpPr>
          <p:cNvPr id="16" name="Text 13"/>
          <p:cNvSpPr/>
          <p:nvPr/>
        </p:nvSpPr>
        <p:spPr>
          <a:xfrm>
            <a:off x="8732520" y="2752344"/>
            <a:ext cx="960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t>87.7%</a:t>
            </a:r>
          </a:p>
        </p:txBody>
      </p:sp>
      <p:sp>
        <p:nvSpPr>
          <p:cNvPr id="17" name="Text 14"/>
          <p:cNvSpPr/>
          <p:nvPr/>
        </p:nvSpPr>
        <p:spPr>
          <a:xfrm>
            <a:off x="9966960" y="2752344"/>
            <a:ext cx="914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t>83.3%</a:t>
            </a:r>
          </a:p>
        </p:txBody>
      </p:sp>
      <p:sp>
        <p:nvSpPr>
          <p:cNvPr id="18" name="Text 15"/>
          <p:cNvSpPr/>
          <p:nvPr/>
        </p:nvSpPr>
        <p:spPr>
          <a:xfrm>
            <a:off x="6903720" y="3191256"/>
            <a:ext cx="17373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KNN</a:t>
            </a:r>
            <a:endParaRPr lang="en-US" sz="1280" dirty="0"/>
          </a:p>
        </p:txBody>
      </p:sp>
      <p:sp>
        <p:nvSpPr>
          <p:cNvPr id="19" name="Text 16"/>
          <p:cNvSpPr/>
          <p:nvPr/>
        </p:nvSpPr>
        <p:spPr>
          <a:xfrm>
            <a:off x="8732520" y="3191256"/>
            <a:ext cx="960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t>84.8%</a:t>
            </a:r>
          </a:p>
        </p:txBody>
      </p:sp>
      <p:sp>
        <p:nvSpPr>
          <p:cNvPr id="20" name="Text 17"/>
          <p:cNvSpPr/>
          <p:nvPr/>
        </p:nvSpPr>
        <p:spPr>
          <a:xfrm>
            <a:off x="9966960" y="3191256"/>
            <a:ext cx="914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t>83.3%</a:t>
            </a:r>
          </a:p>
        </p:txBody>
      </p:sp>
      <p:sp>
        <p:nvSpPr>
          <p:cNvPr id="21" name="Text 18"/>
          <p:cNvSpPr/>
          <p:nvPr/>
        </p:nvSpPr>
        <p:spPr>
          <a:xfrm>
            <a:off x="6903720" y="4343400"/>
            <a:ext cx="4206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sz="1400" dirty="0">
                <a:solidFill>
                  <a:srgbClr val="373737"/>
                </a:solidFill>
              </a:rPr>
              <a:t>Test accuracy tie: all models - 83.3%</a:t>
            </a:r>
            <a:endParaRPr lang="en-US" sz="1400" dirty="0"/>
          </a:p>
          <a:p>
            <a:r>
              <a:rPr lang="en-GB" sz="1400" dirty="0">
                <a:solidFill>
                  <a:srgbClr val="373737"/>
                </a:solidFill>
              </a:rPr>
              <a:t>          </a:t>
            </a:r>
          </a:p>
          <a:p>
            <a:r>
              <a:rPr lang="en-GB" sz="1400" dirty="0">
                <a:solidFill>
                  <a:srgbClr val="373737"/>
                </a:solidFill>
              </a:rPr>
              <a:t>           </a:t>
            </a:r>
            <a:r>
              <a:rPr sz="1400" b="1" dirty="0">
                <a:solidFill>
                  <a:srgbClr val="373737"/>
                </a:solidFill>
              </a:rPr>
              <a:t>Decision Tree</a:t>
            </a:r>
            <a:r>
              <a:rPr sz="1400" dirty="0">
                <a:solidFill>
                  <a:srgbClr val="373737"/>
                </a:solidFill>
              </a:rPr>
              <a:t> led cross-validation with 87.7%. </a:t>
            </a:r>
          </a:p>
        </p:txBody>
      </p:sp>
      <p:sp>
        <p:nvSpPr>
          <p:cNvPr id="22" name="Text 19"/>
          <p:cNvSpPr/>
          <p:nvPr/>
        </p:nvSpPr>
        <p:spPr>
          <a:xfrm>
            <a:off x="502920" y="653796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69A"/>
                </a:solidFill>
              </a:rPr>
              <a:t>IBM Applied Data Science Capstone | SpaceX Falcon 9 Landing Prediction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19</a:t>
            </a:r>
            <a:endParaRPr lang="en-US" sz="800" dirty="0"/>
          </a:p>
        </p:txBody>
      </p:sp>
      <p:pic>
        <p:nvPicPr>
          <p:cNvPr id="24" name="Picture 23" descr="model_comparison_corr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0325"/>
            <a:ext cx="5852160" cy="330303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C84"/>
                </a:solidFill>
              </a:rPr>
              <a:t>Falcon 9 booster recovery can be predicted with useful accuracy from historical launch features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8E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640080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Launch site, payload mass range, booster version and launch history are important signals for landing success.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KSC LC-39A stands out as the strongest dashboard site by successful launches and success 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B5 booster category has the highest observed success rate in the dashboard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Mid-range payloads around 3,000-4,000 kg show the strongest success-rate band in the dashboard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All models reached 83.3% test accuracy; Decision Tree produced the strongest cross-validation score.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80ED"/>
                </a:solidFill>
              </a:rPr>
              <a:t>Actionable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863840" y="1874520"/>
            <a:ext cx="2743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C84"/>
                </a:solidFill>
              </a:rPr>
              <a:t>use the model to estimate recovery probability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AE60"/>
                </a:solidFill>
              </a:rPr>
              <a:t>Reusable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863840" y="3017520"/>
            <a:ext cx="2743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C84"/>
                </a:solidFill>
              </a:rPr>
              <a:t>landing success supports launch-cost estimation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B51E0"/>
                </a:solidFill>
              </a:rPr>
              <a:t>Portfolio-ready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863840" y="4160520"/>
            <a:ext cx="2743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C84"/>
                </a:solidFill>
              </a:rPr>
              <a:t>upload notebooks, app and presentation to GitHub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653796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69A"/>
                </a:solidFill>
              </a:rPr>
              <a:t>IBM Applied Data Science Capstone | SpaceX Falcon 9 Landing Prediction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 Repository 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C84"/>
                </a:solidFill>
              </a:rPr>
              <a:t>Upload the solved notebooks, screenshots, datasets and final presentation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8E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4389120" cy="2743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IBM-Applied-Data-Science-Capstone/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2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2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final_presentation.pdf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2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final_presentation.pptx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2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notebooks/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2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dashboard/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2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2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images/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532120" y="1280160"/>
            <a:ext cx="557784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72B4D"/>
                </a:solidFill>
              </a:rPr>
              <a:t>README explains the business problem, workflow, tools and final deliverables.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72B4D"/>
                </a:solidFill>
              </a:rPr>
              <a:t>notebooks/ contains all solved .ipynb labs.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72B4D"/>
                </a:solidFill>
              </a:rPr>
              <a:t>dashboard/ contains the Dash notebook/app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72B4D"/>
                </a:solidFill>
              </a:rPr>
              <a:t>data/ contains dataset_part_1.csv, dataset_part_2.csv, dataset_part_3.csv and other generated CSV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72B4D"/>
                </a:solidFill>
              </a:rPr>
              <a:t>images/ contains the dashboard screenshots used in this presentation.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69A"/>
                </a:solidFill>
              </a:rPr>
              <a:t>IBM Applied Data Science Capstone | SpaceX Falcon 9 Landing Prediction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Submission Checklist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C84"/>
                </a:solidFill>
              </a:rPr>
              <a:t>Before submitting, make sure every required artifact is visible and easy to open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8E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417320"/>
            <a:ext cx="7498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solved notebooks run from top to bottom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039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039112"/>
            <a:ext cx="7498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 dashboard screenshots saved as PNG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660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660904"/>
            <a:ext cx="7498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Folium map exported as HTML or screenshot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3282696"/>
            <a:ext cx="7498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 exported to PDF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3904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904488"/>
            <a:ext cx="7498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repository is public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4526280"/>
            <a:ext cx="7498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Coursera submission includes GitHub URL and PDF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5532120"/>
            <a:ext cx="987552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9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your repository in a private/incognito browser window before submitting. If it opens without requiring login, the Coursera grader can access it.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653796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69A"/>
                </a:solidFill>
              </a:rPr>
              <a:t>IBM Applied Data Science Capstone | SpaceX Falcon 9 Landing Prediction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Dashboard Evidence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C84"/>
                </a:solidFill>
              </a:rPr>
              <a:t>Screenshots captured from the implemented Dash application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8E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08_dashboard_insight_answ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61751"/>
            <a:ext cx="3749040" cy="2408818"/>
          </a:xfrm>
          <a:prstGeom prst="rect">
            <a:avLst/>
          </a:prstGeom>
        </p:spPr>
      </p:pic>
      <p:pic>
        <p:nvPicPr>
          <p:cNvPr id="6" name="Image 1" descr="/mnt/data/06_payload_slider_filtered_2000_6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253196"/>
            <a:ext cx="6903720" cy="2065608"/>
          </a:xfrm>
          <a:prstGeom prst="rect">
            <a:avLst/>
          </a:prstGeom>
        </p:spPr>
      </p:pic>
      <p:pic>
        <p:nvPicPr>
          <p:cNvPr id="7" name="Image 2" descr="/mnt/data/07_selected_site_payload_scatter_CCAFS_LC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904956"/>
            <a:ext cx="6903720" cy="20656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2920" y="653796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69A"/>
                </a:solidFill>
              </a:rPr>
              <a:t>IBM Applied Data Science Capstone | SpaceX Falcon 9 Landing Prediction</a:t>
            </a:r>
            <a:endParaRPr lang="en-US" sz="750" dirty="0"/>
          </a:p>
        </p:txBody>
      </p:sp>
      <p:sp>
        <p:nvSpPr>
          <p:cNvPr id="9" name="Text 4"/>
          <p:cNvSpPr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430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85800" y="18745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BBD7FF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2560320"/>
            <a:ext cx="3657600" cy="0"/>
          </a:xfrm>
          <a:prstGeom prst="line">
            <a:avLst/>
          </a:prstGeom>
          <a:noFill/>
          <a:ln w="38100">
            <a:solidFill>
              <a:srgbClr val="56C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43434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BFF"/>
                </a:solidFill>
              </a:rPr>
              <a:t>Project: SpaceX Falcon 9 first-stage landing prediction</a:t>
            </a:r>
            <a:endParaRPr lang="en-US" sz="1600" dirty="0"/>
          </a:p>
          <a:p>
            <a:r>
              <a:rPr lang="en-US" sz="1600" dirty="0">
                <a:solidFill>
                  <a:srgbClr val="DDEBFF"/>
                </a:solidFill>
              </a:rPr>
              <a:t>GitHub repository: https://github.com/adilsk007/IBM-Applied-Data-Science-Capstone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DEBFF"/>
                </a:solidFill>
              </a:rPr>
              <a:t>Author: Muhammad Adil Salam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60350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FF"/>
                </a:solidFill>
              </a:rPr>
              <a:t>Final presentation created for IBM Applied Data Science Capstone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680960" y="914400"/>
            <a:ext cx="3657600" cy="3657600"/>
          </a:xfrm>
          <a:prstGeom prst="arc">
            <a:avLst/>
          </a:prstGeom>
          <a:noFill/>
          <a:ln w="25400">
            <a:solidFill>
              <a:srgbClr val="1D5B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92440" y="1325880"/>
            <a:ext cx="2834640" cy="2834640"/>
          </a:xfrm>
          <a:prstGeom prst="arc">
            <a:avLst/>
          </a:prstGeom>
          <a:noFill/>
          <a:ln w="25400">
            <a:solidFill>
              <a:srgbClr val="56CCF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281160" y="2514600"/>
            <a:ext cx="164592" cy="164592"/>
          </a:xfrm>
          <a:prstGeom prst="ellipse">
            <a:avLst/>
          </a:prstGeom>
          <a:solidFill>
            <a:srgbClr val="56CCF2"/>
          </a:solidFill>
          <a:ln w="12700">
            <a:solidFill>
              <a:srgbClr val="56C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653796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69A"/>
                </a:solidFill>
              </a:rPr>
              <a:t>IBM Applied Data Science Capstone | SpaceX Falcon 9 Landing Prediction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2082</Words>
  <Application>Microsoft Office PowerPoint</Application>
  <PresentationFormat>Widescreen</PresentationFormat>
  <Paragraphs>378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IBM Applied Data Science Capstone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Winning Space Race with Data Science</dc:title>
  <dc:subject>SpaceX Falcon 9 Landing Prediction</dc:subject>
  <dc:creator>Margarita Chekhova</dc:creator>
  <cp:lastModifiedBy>Adil Salam</cp:lastModifiedBy>
  <cp:revision>4</cp:revision>
  <dcterms:created xsi:type="dcterms:W3CDTF">2026-05-05T20:24:23Z</dcterms:created>
  <dcterms:modified xsi:type="dcterms:W3CDTF">2026-05-05T23:38:07Z</dcterms:modified>
</cp:coreProperties>
</file>